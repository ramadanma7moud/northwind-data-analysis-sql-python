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44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5156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1051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Northwind Data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query, to output, to visual insight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  •  Northwind Traders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9" y="164588"/>
            <a:ext cx="2926086" cy="1414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92808" y="4552032"/>
            <a:ext cx="555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Ramadan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Mahmoud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questions, each traced from raw SQL to final chart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665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order distribution across employees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907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0720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loyal high-volume (VIP) customers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4845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footprint vs. customer density by 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489704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5431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33095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linked to shipment delays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Orders on a Single Day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7863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volume and distribution of orders processed by employees on May 19, 1997?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040880" cy="859536"/>
          </a:xfrm>
          <a:prstGeom prst="roundRect">
            <a:avLst>
              <a:gd name="adj" fmla="val 9574"/>
            </a:avLst>
          </a:prstGeom>
          <a:solidFill>
            <a:srgbClr val="1016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371600"/>
            <a:ext cx="109728" cy="109728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6362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1810512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OrderDate =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'1997-05-19'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7040880" cy="1078992"/>
          </a:xfrm>
          <a:prstGeom prst="roundRect">
            <a:avLst>
              <a:gd name="adj" fmla="val 762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532888"/>
          <a:ext cx="6638544" cy="713232"/>
        </p:xfrm>
        <a:graphic>
          <a:graphicData uri="http://schemas.openxmlformats.org/drawingml/2006/table">
            <a:tbl>
              <a:tblPr/>
              <a:tblGrid>
                <a:gridCol w="110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EmployeeID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ShippedDate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ShipCountry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10540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QUICK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1997-05-19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1997-06-13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Germany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10541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HANAR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1997-05-19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1997-05-29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Brazil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726680" y="1234440"/>
            <a:ext cx="3977640" cy="2084832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6" name="Image 0" descr="images/orders_per_employ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425" y="1417320"/>
            <a:ext cx="2308151" cy="171907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3447288"/>
            <a:ext cx="11247120" cy="932688"/>
          </a:xfrm>
          <a:prstGeom prst="roundRect">
            <a:avLst>
              <a:gd name="adj" fmla="val 8824"/>
            </a:avLst>
          </a:prstGeom>
          <a:solidFill>
            <a:srgbClr val="CADCFC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" y="3520440"/>
            <a:ext cx="10881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orders were placed that day — an extremely low-volume day overall.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was split evenly between Employee 2 and Employee 3.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 (VIP)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7863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most loyal, high-volume (VIP) customers who placed more than 15 orders since the start of 1997?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040880" cy="1106424"/>
          </a:xfrm>
          <a:prstGeom prst="roundRect">
            <a:avLst>
              <a:gd name="adj" fmla="val 7438"/>
            </a:avLst>
          </a:prstGeom>
          <a:solidFill>
            <a:srgbClr val="1016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371600"/>
            <a:ext cx="109728" cy="109728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6362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CustomerID, </a:t>
            </a:r>
            <a:r>
              <a:rPr lang="en-US" sz="1150" dirty="0">
                <a:solidFill>
                  <a:srgbClr val="8FD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(OrderID)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TotalOrders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1810512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OrderDate &gt;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'1996-12-31'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2057400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r>
              <a:rPr lang="en-US" sz="1150" dirty="0">
                <a:solidFill>
                  <a:srgbClr val="8FD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(OrderID) &gt;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7040880" cy="1792224"/>
          </a:xfrm>
          <a:prstGeom prst="roundRect">
            <a:avLst>
              <a:gd name="adj" fmla="val 459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79776"/>
          <a:ext cx="6638544" cy="1426464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TotalOrders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ERNSH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FOLKO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HILAA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QUICK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726680" y="1234440"/>
            <a:ext cx="3977640" cy="3044952"/>
          </a:xfrm>
          <a:prstGeom prst="roundRect">
            <a:avLst>
              <a:gd name="adj" fmla="val 300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7" name="Image 0" descr="images/top_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861" y="1417320"/>
            <a:ext cx="3597277" cy="26791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4407408"/>
            <a:ext cx="11247120" cy="932688"/>
          </a:xfrm>
          <a:prstGeom prst="roundRect">
            <a:avLst>
              <a:gd name="adj" fmla="val 8824"/>
            </a:avLst>
          </a:prstGeom>
          <a:solidFill>
            <a:srgbClr val="CADC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" y="4480560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 leads with 28 orders, followed by ERNSH and QUICK.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452360" y="4498848"/>
            <a:ext cx="0" cy="749808"/>
          </a:xfrm>
          <a:prstGeom prst="line">
            <a:avLst/>
          </a:prstGeom>
          <a:noFill/>
          <a:ln w="12700">
            <a:solidFill>
              <a:srgbClr val="9FB8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35240" y="4480560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0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these VIP clients with dedicated loyalty programs and exclusive offers to secure retention.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vs. Customers by City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7863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geographic distribution of our employees compare to the actual density of our customers across cities?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040880" cy="1847088"/>
          </a:xfrm>
          <a:prstGeom prst="roundRect">
            <a:avLst>
              <a:gd name="adj" fmla="val 4455"/>
            </a:avLst>
          </a:prstGeom>
          <a:solidFill>
            <a:srgbClr val="1016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371600"/>
            <a:ext cx="109728" cy="109728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6362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E.City,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1810512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D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E.EmployeeID)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2057400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D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C.CustomerID)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 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551176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C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E.City = C.City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279806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E.City;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7040880" cy="1792224"/>
          </a:xfrm>
          <a:prstGeom prst="roundRect">
            <a:avLst>
              <a:gd name="adj" fmla="val 459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19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520440"/>
          <a:ext cx="6638544" cy="1426464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Employees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Kirkland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London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Redmond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Seattle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Tacoma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726680" y="1234440"/>
            <a:ext cx="3977640" cy="3785616"/>
          </a:xfrm>
          <a:prstGeom prst="roundRect">
            <a:avLst>
              <a:gd name="adj" fmla="val 2415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20" name="Image 0" descr="images/employees_vs_customers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236480"/>
            <a:ext cx="3611880" cy="178153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" y="5148072"/>
            <a:ext cx="11247120" cy="932688"/>
          </a:xfrm>
          <a:prstGeom prst="roundRect">
            <a:avLst>
              <a:gd name="adj" fmla="val 8824"/>
            </a:avLst>
          </a:prstGeom>
          <a:solidFill>
            <a:srgbClr val="CADCFC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" y="5221224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 and Tacoma have customers but zero local employees; London is well-staffed.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452360" y="5239512"/>
            <a:ext cx="0" cy="749808"/>
          </a:xfrm>
          <a:prstGeom prst="line">
            <a:avLst/>
          </a:prstGeom>
          <a:noFill/>
          <a:ln w="12700">
            <a:solidFill>
              <a:srgbClr val="9FB8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35240" y="5221224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0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staff or hire local reps in high-density customer cities to optimize service.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Products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7863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generated the highest sales volume in terms of total quantity ordered?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040880" cy="2093976"/>
          </a:xfrm>
          <a:prstGeom prst="roundRect">
            <a:avLst>
              <a:gd name="adj" fmla="val 3930"/>
            </a:avLst>
          </a:prstGeom>
          <a:solidFill>
            <a:srgbClr val="1016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371600"/>
            <a:ext cx="109728" cy="109728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6362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TOP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P.ProductName,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1810512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D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(od.Quantity)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TotalQuantity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2057400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 Details] 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551176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P.ProductID = od.ProductID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279806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P.ProductName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044952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TotalQuantity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7040880" cy="1956816"/>
          </a:xfrm>
          <a:prstGeom prst="roundRect">
            <a:avLst>
              <a:gd name="adj" fmla="val 420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66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767328"/>
          <a:ext cx="6638544" cy="1426464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TotalQuantity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Camembert Pierrot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1577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Raclette Courdavault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1496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Gorgonzola Telino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1397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Gnocchi di nonna Alice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1263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Pavlova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1158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58368" y="5212080"/>
            <a:ext cx="6638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5 more rows (10 total)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26680" y="1234440"/>
            <a:ext cx="3977640" cy="4197096"/>
          </a:xfrm>
          <a:prstGeom prst="roundRect">
            <a:avLst>
              <a:gd name="adj" fmla="val 229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22" name="Image 0" descr="images/top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457716"/>
            <a:ext cx="3611880" cy="1750543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57200" y="5559552"/>
            <a:ext cx="11247120" cy="932688"/>
          </a:xfrm>
          <a:prstGeom prst="roundRect">
            <a:avLst>
              <a:gd name="adj" fmla="val 8824"/>
            </a:avLst>
          </a:prstGeom>
          <a:solidFill>
            <a:srgbClr val="CADCFC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" y="5632704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Camembert Pierrot tops the list, ahead of Raclette Courdavault and Gorgonzola Telino.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452360" y="5650992"/>
            <a:ext cx="0" cy="749808"/>
          </a:xfrm>
          <a:prstGeom prst="line">
            <a:avLst/>
          </a:prstGeom>
          <a:noFill/>
          <a:ln w="12700">
            <a:solidFill>
              <a:srgbClr val="9FB8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35240" y="5632704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0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consistent stock levels for these top products to prevent stockouts and maximize revenue.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and Late Shipments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7863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employees recorded the highest number of late shipments, where the shipped date exceeded the required date?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040880" cy="1847088"/>
          </a:xfrm>
          <a:prstGeom prst="roundRect">
            <a:avLst>
              <a:gd name="adj" fmla="val 4455"/>
            </a:avLst>
          </a:prstGeom>
          <a:solidFill>
            <a:srgbClr val="1016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371600"/>
            <a:ext cx="109728" cy="109728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6362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Orders.OrderID,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1810512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Employees.FirstName, Employees.LastName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2057400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551176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Orders.EmployeeID = Employees.EmployeeID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2798064"/>
            <a:ext cx="66385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1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Orders.ShippedDate &gt; Orders.RequiredDate;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7040880" cy="1956816"/>
          </a:xfrm>
          <a:prstGeom prst="roundRect">
            <a:avLst>
              <a:gd name="adj" fmla="val 420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19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520440"/>
          <a:ext cx="6638544" cy="1426464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10264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Michael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Suyama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10271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Michael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Suyama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10280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Andrew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Fuller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10302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Margaret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Peacock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10309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Janet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Leverling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58368" y="4965192"/>
            <a:ext cx="6638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32 more rows (37 total)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26680" y="1234440"/>
            <a:ext cx="3977640" cy="3950208"/>
          </a:xfrm>
          <a:prstGeom prst="roundRect">
            <a:avLst>
              <a:gd name="adj" fmla="val 2315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21" name="Image 0" descr="images/late_shipments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841006"/>
            <a:ext cx="3611880" cy="273707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7200" y="5312664"/>
            <a:ext cx="11247120" cy="932688"/>
          </a:xfrm>
          <a:prstGeom prst="roundRect">
            <a:avLst>
              <a:gd name="adj" fmla="val 8824"/>
            </a:avLst>
          </a:prstGeom>
          <a:solidFill>
            <a:srgbClr val="CADCFC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" y="5385816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Peacock accounts for 27% of all late-shipped orders — the largest share by far.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52360" y="5404104"/>
            <a:ext cx="0" cy="749808"/>
          </a:xfrm>
          <a:prstGeom prst="line">
            <a:avLst/>
          </a:prstGeom>
          <a:noFill/>
          <a:ln w="12700">
            <a:solidFill>
              <a:srgbClr val="9FB8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35240" y="5385816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0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find bottlenecks in specific shipping routes or logistics workflows.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Recommendations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94560" y="288036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loyalty programs for VIP customers to secure retention.</a:t>
            </a:r>
            <a:endParaRPr lang="en-US" sz="16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employee locations to match customer density.</a:t>
            </a:r>
            <a:endParaRPr lang="en-US" sz="16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stable inventory for the best-selling products.</a:t>
            </a:r>
            <a:endParaRPr lang="en-US" sz="16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root causes of delay for the slowest-shipping employees.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Widescreen</PresentationFormat>
  <Paragraphs>165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Ramadan Kotb</cp:lastModifiedBy>
  <cp:revision>2</cp:revision>
  <dcterms:created xsi:type="dcterms:W3CDTF">2026-07-14T06:16:09Z</dcterms:created>
  <dcterms:modified xsi:type="dcterms:W3CDTF">2026-07-14T06:21:40Z</dcterms:modified>
</cp:coreProperties>
</file>