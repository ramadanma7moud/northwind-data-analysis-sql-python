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05156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5394960" y="10515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Northwind Data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71600" y="37947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insights from sales, customer, employee, and shipping 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Report  •  Northwind Traders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4114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088136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the Scenes: From Query to Chart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the Python + SQL pipeline used to power the “Top Customers” chart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858000" cy="3246120"/>
          </a:xfrm>
          <a:prstGeom prst="roundRect">
            <a:avLst>
              <a:gd name="adj" fmla="val 3380"/>
            </a:avLst>
          </a:prstGeom>
          <a:solidFill>
            <a:srgbClr val="10162E"/>
          </a:solidFill>
          <a:ln/>
          <a:effectLst>
            <a:outerShdw sx="100000" sy="100000" kx="0" ky="0" algn="bl" rotWithShape="0" blurRad="152400" dist="38100" dir="5400000">
              <a:srgbClr val="1E2761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180136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1801368"/>
            <a:ext cx="128016" cy="128016"/>
          </a:xfrm>
          <a:prstGeom prst="ellipse">
            <a:avLst/>
          </a:prstGeom>
          <a:solidFill>
            <a:srgbClr val="8FD19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03120"/>
            <a:ext cx="63093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"""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CustomerID,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COUNT(OrderID) AS TotalOrders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Orders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OrderDate &gt; '1996-12-31'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CustomerID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HAVING COUNT(OrderID) &gt; 15;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read_data_from_sql(conn, query)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1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6858000" cy="160020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51572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5413248"/>
            <a:ext cx="63459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41B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CustomerID   TotalOrders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41B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ERNSH        24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41B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FOLKO        16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41B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HILAA        16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41B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QUICK        22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41B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SAVEA        28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16002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code does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35240" y="20116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Query the 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35240" y="23042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query pulls every customer who placed more than 15 orders since the start of 1997, counting orders per CustomerID.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35240" y="31729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Load into pandas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35240" y="3465576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read_data_from_sql() runs the query through the SQL Server connection and returns the results as a DataFrame.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635240" y="43342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Inspect the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35240" y="462686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print(df) shows 5 VIP customers, from SAVEA (28 orders) down to FOLKO and HILAA (16 orders each).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635240" y="549554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Sort &amp; visualize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35240" y="578815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DataFrame is then sorted by TotalOrders and passed to Seaborn to build the bar chart on the next slide.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4114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1088136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Straight from SQL Server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T-SQL query run in SQL Server Management Studio before any Python touches the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6479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176479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1764792"/>
            <a:ext cx="128016" cy="128016"/>
          </a:xfrm>
          <a:prstGeom prst="ellipse">
            <a:avLst/>
          </a:prstGeom>
          <a:solidFill>
            <a:srgbClr val="8FD19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574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pPr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38658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OrderDate </a:t>
            </a:r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500" dirty="0">
                <a:solidFill>
                  <a:srgbClr val="A315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'1997-05-19'</a:t>
            </a:r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55848"/>
          <a:ext cx="10881360" cy="1005840"/>
        </p:xfrm>
        <a:graphic>
          <a:graphicData uri="http://schemas.openxmlformats.org/drawingml/2006/table">
            <a:tbl>
              <a:tblPr/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CustomerID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EmployeeID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OrderDate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ShippedDate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ShipCountry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C9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10540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QUICK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1997-05-19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1997-06-13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Germany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10541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HANAR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1997-05-19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1997-05-29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41B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Brazil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461772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CADCFC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81888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QUERY MATTERS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5148072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query behind the first insight in the deck. Running it directly in SQL Server confirms the source data before it ever reaches Python: only two orders were placed on May 19, 1997 — order 10540 (Employee 3, QUICK) and order 10541 (Employee 2, HANAR). That two-row result is what the read_data_from_sql() function loads into a DataFrame and what the “Employee Orders on a Single Day” chart later visualizes.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key analytical questions extracted from the Northwind database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0665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66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order distribution across employees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9077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80720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loyal high-volume (VIP) customers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749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48456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footprint vs. customer density by city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4590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489704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Best-selling products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330952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54315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533095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linked to shipment delays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Orders on a Single 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035040" cy="493776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images/orders_per_employ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31442"/>
            <a:ext cx="5394960" cy="40180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0" y="16916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the volume and distribution of orders processed by employees on May 19, 1997?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0" y="2880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32461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was extremely low-volume for the company, with only two orders registered in total.</a:t>
            </a:r>
            <a:endParaRPr lang="en-US" sz="1300" dirty="0"/>
          </a:p>
          <a:p>
            <a:pPr algn="l"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was split evenly between Employee 2 and Employee 3, one order each.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Customers (VIP)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035040" cy="493776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images/top_custom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31442"/>
            <a:ext cx="5394960" cy="40180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0" y="16916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most loyal, high-volume (VIP) customers who placed more than 15 orders since the start of 1997?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0" y="2880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32461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clearly highlights the top-tier customers driving the highest order volume post-1996.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425196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4389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86600" y="4690872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these VIP clients with dedicated loyalty programs and exclusive offers to ensure long-term retention.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vs. Customers by City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035040" cy="493776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images/employees_vs_customers_c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09966"/>
            <a:ext cx="5394960" cy="26610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0" y="16916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the geographic distribution of our employees compare to the actual density of our customers across cities?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0" y="2880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32461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dual-comparison plot reveals geographic gaps; some cities have a large customer base but very few (or no) local employees supporting them.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425196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4389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86600" y="4690872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can strategically relocate staff or hire local representatives in high-density customer cities to optimize service.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Best-Selling Products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035040" cy="493776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images/top_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33112"/>
            <a:ext cx="5394960" cy="26147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0" y="16916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products generated the highest sales volume in terms of total quantity ordered?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0" y="2880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32461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ranks our most in-demand inventory items, with the leading products showing a significant margin over the rest.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425196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4389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86600" y="4690872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procurement teams must keep consistent stock levels for these top products to prevent stockouts and maximize revenue.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17320" y="384048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and Late Shipments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035040" cy="493776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18000"/>
              </a:srgbClr>
            </a:outerShdw>
          </a:effectLst>
        </p:spPr>
      </p:sp>
      <p:pic>
        <p:nvPicPr>
          <p:cNvPr id="6" name="Image 0" descr="images/late_shipments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96335"/>
            <a:ext cx="5394960" cy="40882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0" y="16916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41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employees recorded the highest number of late shipments, where the shipped date exceeded the required date?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0" y="2880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32461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pinpoints the team members associated with the highest shipping delays.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4251960"/>
            <a:ext cx="4754880" cy="1737360"/>
          </a:xfrm>
          <a:prstGeom prst="roundRect">
            <a:avLst>
              <a:gd name="adj" fmla="val 5263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4389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86600" y="4690872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insight for operational support — identifying bottlenecks in specific shipping routes or logistics workflows to help improve efficiency.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4572000" cy="457200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114800" cy="411480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Recommendations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94560" y="288036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loyalty programs for VIP customers to secure retention.</a:t>
            </a:r>
            <a:endParaRPr lang="en-US" sz="1600" dirty="0"/>
          </a:p>
          <a:p>
            <a:pPr algn="l"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employee locations to match customer density.</a:t>
            </a:r>
            <a:endParaRPr lang="en-US" sz="1600" dirty="0"/>
          </a:p>
          <a:p>
            <a:pPr algn="l"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stable inventory for the best-selling products.</a:t>
            </a:r>
            <a:endParaRPr lang="en-US" sz="1600" dirty="0"/>
          </a:p>
          <a:p>
            <a:pPr algn="l" marL="177800" indent="-1778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root causes of delay for the slowest-shipping employees.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2026-07-13T22:14:40Z</dcterms:created>
  <dcterms:modified xsi:type="dcterms:W3CDTF">2026-07-13T22:14:40Z</dcterms:modified>
</cp:coreProperties>
</file>